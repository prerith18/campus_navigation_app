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logger" panose="020B0604020202020204" charset="0"/>
      <p:regular r:id="rId12"/>
    </p:embeddedFont>
    <p:embeddedFont>
      <p:font typeface="Blogger Bold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2.jpe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3.jpeg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4.jpe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1858843">
            <a:off x="5574280" y="120893"/>
            <a:ext cx="3176506" cy="6285263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 rot="1858843">
            <a:off x="2177962" y="5770596"/>
            <a:ext cx="3176506" cy="6285263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158" b="-1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 rot="1858843">
            <a:off x="2745582" y="-2335474"/>
            <a:ext cx="3176506" cy="6285263"/>
            <a:chOff x="0" y="0"/>
            <a:chExt cx="2620010" cy="5184140"/>
          </a:xfrm>
        </p:grpSpPr>
        <p:sp>
          <p:nvSpPr>
            <p:cNvPr id="23" name="Freeform 2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t="-158" b="-1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 rot="1858843">
            <a:off x="-801380" y="3286456"/>
            <a:ext cx="3176506" cy="6285263"/>
            <a:chOff x="0" y="0"/>
            <a:chExt cx="2620010" cy="5184140"/>
          </a:xfrm>
        </p:grpSpPr>
        <p:sp>
          <p:nvSpPr>
            <p:cNvPr id="33" name="Freeform 3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t="-158" b="-1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698422" y="4328541"/>
            <a:ext cx="7294806" cy="163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A MOBILE APP FOR CAMPUS 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506382" y="4322910"/>
            <a:ext cx="5333496" cy="2882512"/>
            <a:chOff x="0" y="0"/>
            <a:chExt cx="1232766" cy="666254"/>
          </a:xfrm>
        </p:grpSpPr>
        <p:sp>
          <p:nvSpPr>
            <p:cNvPr id="3" name="Freeform 3"/>
            <p:cNvSpPr/>
            <p:nvPr/>
          </p:nvSpPr>
          <p:spPr>
            <a:xfrm>
              <a:off x="3241" y="0"/>
              <a:ext cx="1226285" cy="666254"/>
            </a:xfrm>
            <a:custGeom>
              <a:avLst/>
              <a:gdLst/>
              <a:ahLst/>
              <a:cxnLst/>
              <a:rect l="l" t="t" r="r" b="b"/>
              <a:pathLst>
                <a:path w="1226285" h="666254">
                  <a:moveTo>
                    <a:pt x="214475" y="0"/>
                  </a:moveTo>
                  <a:lnTo>
                    <a:pt x="1215010" y="0"/>
                  </a:lnTo>
                  <a:cubicBezTo>
                    <a:pt x="1218416" y="0"/>
                    <a:pt x="1221621" y="1615"/>
                    <a:pt x="1223648" y="4352"/>
                  </a:cubicBezTo>
                  <a:cubicBezTo>
                    <a:pt x="1225675" y="7090"/>
                    <a:pt x="1226284" y="10626"/>
                    <a:pt x="1225291" y="13884"/>
                  </a:cubicBezTo>
                  <a:lnTo>
                    <a:pt x="1030560" y="652370"/>
                  </a:lnTo>
                  <a:cubicBezTo>
                    <a:pt x="1028044" y="660619"/>
                    <a:pt x="1020433" y="666254"/>
                    <a:pt x="1011810" y="666254"/>
                  </a:cubicBezTo>
                  <a:lnTo>
                    <a:pt x="11275" y="666254"/>
                  </a:lnTo>
                  <a:cubicBezTo>
                    <a:pt x="7868" y="666254"/>
                    <a:pt x="4664" y="664640"/>
                    <a:pt x="2636" y="661902"/>
                  </a:cubicBezTo>
                  <a:cubicBezTo>
                    <a:pt x="609" y="659165"/>
                    <a:pt x="0" y="655628"/>
                    <a:pt x="994" y="652370"/>
                  </a:cubicBezTo>
                  <a:lnTo>
                    <a:pt x="195724" y="13884"/>
                  </a:lnTo>
                  <a:cubicBezTo>
                    <a:pt x="198240" y="5636"/>
                    <a:pt x="205851" y="0"/>
                    <a:pt x="21447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1029566" cy="732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2819264" y="4435404"/>
            <a:ext cx="5187443" cy="2803578"/>
            <a:chOff x="0" y="0"/>
            <a:chExt cx="1232766" cy="666254"/>
          </a:xfrm>
        </p:grpSpPr>
        <p:sp>
          <p:nvSpPr>
            <p:cNvPr id="6" name="Freeform 6"/>
            <p:cNvSpPr/>
            <p:nvPr/>
          </p:nvSpPr>
          <p:spPr>
            <a:xfrm>
              <a:off x="3332" y="0"/>
              <a:ext cx="1226102" cy="666254"/>
            </a:xfrm>
            <a:custGeom>
              <a:avLst/>
              <a:gdLst/>
              <a:ahLst/>
              <a:cxnLst/>
              <a:rect l="l" t="t" r="r" b="b"/>
              <a:pathLst>
                <a:path w="1226102" h="666254">
                  <a:moveTo>
                    <a:pt x="214792" y="0"/>
                  </a:moveTo>
                  <a:lnTo>
                    <a:pt x="1214510" y="0"/>
                  </a:lnTo>
                  <a:cubicBezTo>
                    <a:pt x="1218012" y="0"/>
                    <a:pt x="1221307" y="1660"/>
                    <a:pt x="1223391" y="4475"/>
                  </a:cubicBezTo>
                  <a:cubicBezTo>
                    <a:pt x="1225475" y="7289"/>
                    <a:pt x="1226102" y="10925"/>
                    <a:pt x="1225080" y="14275"/>
                  </a:cubicBezTo>
                  <a:lnTo>
                    <a:pt x="1030588" y="651979"/>
                  </a:lnTo>
                  <a:cubicBezTo>
                    <a:pt x="1028001" y="660460"/>
                    <a:pt x="1020176" y="666254"/>
                    <a:pt x="1011310" y="666254"/>
                  </a:cubicBezTo>
                  <a:lnTo>
                    <a:pt x="11592" y="666254"/>
                  </a:lnTo>
                  <a:cubicBezTo>
                    <a:pt x="8090" y="666254"/>
                    <a:pt x="4795" y="664594"/>
                    <a:pt x="2711" y="661780"/>
                  </a:cubicBezTo>
                  <a:cubicBezTo>
                    <a:pt x="627" y="658965"/>
                    <a:pt x="0" y="655329"/>
                    <a:pt x="1022" y="651979"/>
                  </a:cubicBezTo>
                  <a:lnTo>
                    <a:pt x="195514" y="14275"/>
                  </a:lnTo>
                  <a:cubicBezTo>
                    <a:pt x="198101" y="5794"/>
                    <a:pt x="205926" y="0"/>
                    <a:pt x="2147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66675"/>
              <a:ext cx="1029566" cy="732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164000">
            <a:off x="5264676" y="2769527"/>
            <a:ext cx="2122182" cy="2122182"/>
          </a:xfrm>
          <a:custGeom>
            <a:avLst/>
            <a:gdLst/>
            <a:ahLst/>
            <a:cxnLst/>
            <a:rect l="l" t="t" r="r" b="b"/>
            <a:pathLst>
              <a:path w="2122182" h="2122182">
                <a:moveTo>
                  <a:pt x="552702" y="0"/>
                </a:moveTo>
                <a:lnTo>
                  <a:pt x="2122183" y="552702"/>
                </a:lnTo>
                <a:lnTo>
                  <a:pt x="1569481" y="2122183"/>
                </a:lnTo>
                <a:lnTo>
                  <a:pt x="0" y="1569481"/>
                </a:lnTo>
                <a:lnTo>
                  <a:pt x="5527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441" t="-5441" r="-5441" b="-544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 rot="-5400000">
            <a:off x="6207697" y="4366799"/>
            <a:ext cx="5171080" cy="2794734"/>
            <a:chOff x="0" y="0"/>
            <a:chExt cx="1232766" cy="666254"/>
          </a:xfrm>
        </p:grpSpPr>
        <p:sp>
          <p:nvSpPr>
            <p:cNvPr id="10" name="Freeform 10"/>
            <p:cNvSpPr/>
            <p:nvPr/>
          </p:nvSpPr>
          <p:spPr>
            <a:xfrm>
              <a:off x="3343" y="0"/>
              <a:ext cx="1226081" cy="666254"/>
            </a:xfrm>
            <a:custGeom>
              <a:avLst/>
              <a:gdLst/>
              <a:ahLst/>
              <a:cxnLst/>
              <a:rect l="l" t="t" r="r" b="b"/>
              <a:pathLst>
                <a:path w="1226081" h="666254">
                  <a:moveTo>
                    <a:pt x="214829" y="0"/>
                  </a:moveTo>
                  <a:lnTo>
                    <a:pt x="1214452" y="0"/>
                  </a:lnTo>
                  <a:cubicBezTo>
                    <a:pt x="1217965" y="0"/>
                    <a:pt x="1221270" y="1665"/>
                    <a:pt x="1223361" y="4489"/>
                  </a:cubicBezTo>
                  <a:cubicBezTo>
                    <a:pt x="1225452" y="7312"/>
                    <a:pt x="1226081" y="10960"/>
                    <a:pt x="1225056" y="14320"/>
                  </a:cubicBezTo>
                  <a:lnTo>
                    <a:pt x="1030591" y="651934"/>
                  </a:lnTo>
                  <a:cubicBezTo>
                    <a:pt x="1027996" y="660442"/>
                    <a:pt x="1020146" y="666254"/>
                    <a:pt x="1011252" y="666254"/>
                  </a:cubicBezTo>
                  <a:lnTo>
                    <a:pt x="11629" y="666254"/>
                  </a:lnTo>
                  <a:cubicBezTo>
                    <a:pt x="8115" y="666254"/>
                    <a:pt x="4810" y="664589"/>
                    <a:pt x="2719" y="661765"/>
                  </a:cubicBezTo>
                  <a:cubicBezTo>
                    <a:pt x="628" y="658942"/>
                    <a:pt x="0" y="655294"/>
                    <a:pt x="1025" y="651934"/>
                  </a:cubicBezTo>
                  <a:lnTo>
                    <a:pt x="195489" y="14320"/>
                  </a:lnTo>
                  <a:cubicBezTo>
                    <a:pt x="198084" y="5813"/>
                    <a:pt x="205934" y="0"/>
                    <a:pt x="214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66675"/>
              <a:ext cx="1029566" cy="732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9662615" y="4429348"/>
            <a:ext cx="5089872" cy="2750845"/>
            <a:chOff x="0" y="0"/>
            <a:chExt cx="1232766" cy="666254"/>
          </a:xfrm>
        </p:grpSpPr>
        <p:sp>
          <p:nvSpPr>
            <p:cNvPr id="13" name="Freeform 13"/>
            <p:cNvSpPr/>
            <p:nvPr/>
          </p:nvSpPr>
          <p:spPr>
            <a:xfrm>
              <a:off x="3396" y="0"/>
              <a:ext cx="1225974" cy="666254"/>
            </a:xfrm>
            <a:custGeom>
              <a:avLst/>
              <a:gdLst/>
              <a:ahLst/>
              <a:cxnLst/>
              <a:rect l="l" t="t" r="r" b="b"/>
              <a:pathLst>
                <a:path w="1225974" h="666254">
                  <a:moveTo>
                    <a:pt x="215014" y="0"/>
                  </a:moveTo>
                  <a:lnTo>
                    <a:pt x="1214160" y="0"/>
                  </a:lnTo>
                  <a:cubicBezTo>
                    <a:pt x="1217729" y="0"/>
                    <a:pt x="1221087" y="1692"/>
                    <a:pt x="1223211" y="4560"/>
                  </a:cubicBezTo>
                  <a:cubicBezTo>
                    <a:pt x="1225336" y="7429"/>
                    <a:pt x="1225974" y="11135"/>
                    <a:pt x="1224933" y="14549"/>
                  </a:cubicBezTo>
                  <a:lnTo>
                    <a:pt x="1030607" y="651705"/>
                  </a:lnTo>
                  <a:cubicBezTo>
                    <a:pt x="1027971" y="660349"/>
                    <a:pt x="1019996" y="666254"/>
                    <a:pt x="1010960" y="666254"/>
                  </a:cubicBezTo>
                  <a:lnTo>
                    <a:pt x="11814" y="666254"/>
                  </a:lnTo>
                  <a:cubicBezTo>
                    <a:pt x="8245" y="666254"/>
                    <a:pt x="4887" y="664562"/>
                    <a:pt x="2763" y="661694"/>
                  </a:cubicBezTo>
                  <a:cubicBezTo>
                    <a:pt x="639" y="658825"/>
                    <a:pt x="0" y="655120"/>
                    <a:pt x="1041" y="651705"/>
                  </a:cubicBezTo>
                  <a:lnTo>
                    <a:pt x="195367" y="14549"/>
                  </a:lnTo>
                  <a:cubicBezTo>
                    <a:pt x="198003" y="5905"/>
                    <a:pt x="205978" y="0"/>
                    <a:pt x="2150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-66675"/>
              <a:ext cx="1029566" cy="732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400000">
            <a:off x="13125104" y="4448007"/>
            <a:ext cx="5171080" cy="2794734"/>
            <a:chOff x="0" y="0"/>
            <a:chExt cx="1232766" cy="666254"/>
          </a:xfrm>
        </p:grpSpPr>
        <p:sp>
          <p:nvSpPr>
            <p:cNvPr id="16" name="Freeform 16"/>
            <p:cNvSpPr/>
            <p:nvPr/>
          </p:nvSpPr>
          <p:spPr>
            <a:xfrm>
              <a:off x="3343" y="0"/>
              <a:ext cx="1226081" cy="666254"/>
            </a:xfrm>
            <a:custGeom>
              <a:avLst/>
              <a:gdLst/>
              <a:ahLst/>
              <a:cxnLst/>
              <a:rect l="l" t="t" r="r" b="b"/>
              <a:pathLst>
                <a:path w="1226081" h="666254">
                  <a:moveTo>
                    <a:pt x="214829" y="0"/>
                  </a:moveTo>
                  <a:lnTo>
                    <a:pt x="1214452" y="0"/>
                  </a:lnTo>
                  <a:cubicBezTo>
                    <a:pt x="1217965" y="0"/>
                    <a:pt x="1221270" y="1665"/>
                    <a:pt x="1223361" y="4489"/>
                  </a:cubicBezTo>
                  <a:cubicBezTo>
                    <a:pt x="1225452" y="7312"/>
                    <a:pt x="1226081" y="10960"/>
                    <a:pt x="1225056" y="14320"/>
                  </a:cubicBezTo>
                  <a:lnTo>
                    <a:pt x="1030591" y="651934"/>
                  </a:lnTo>
                  <a:cubicBezTo>
                    <a:pt x="1027996" y="660442"/>
                    <a:pt x="1020146" y="666254"/>
                    <a:pt x="1011252" y="666254"/>
                  </a:cubicBezTo>
                  <a:lnTo>
                    <a:pt x="11629" y="666254"/>
                  </a:lnTo>
                  <a:cubicBezTo>
                    <a:pt x="8115" y="666254"/>
                    <a:pt x="4810" y="664589"/>
                    <a:pt x="2719" y="661765"/>
                  </a:cubicBezTo>
                  <a:cubicBezTo>
                    <a:pt x="628" y="658942"/>
                    <a:pt x="0" y="655294"/>
                    <a:pt x="1025" y="651934"/>
                  </a:cubicBezTo>
                  <a:lnTo>
                    <a:pt x="195489" y="14320"/>
                  </a:lnTo>
                  <a:cubicBezTo>
                    <a:pt x="198084" y="5813"/>
                    <a:pt x="205934" y="0"/>
                    <a:pt x="214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4AA8">
                    <a:alpha val="100000"/>
                  </a:srgbClr>
                </a:gs>
                <a:gs pos="100000">
                  <a:srgbClr val="B56FDC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600" y="-66675"/>
              <a:ext cx="1029566" cy="732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886047" y="2715598"/>
            <a:ext cx="1850831" cy="2196832"/>
          </a:xfrm>
          <a:custGeom>
            <a:avLst/>
            <a:gdLst/>
            <a:ahLst/>
            <a:cxnLst/>
            <a:rect l="l" t="t" r="r" b="b"/>
            <a:pathLst>
              <a:path w="1850831" h="2196832">
                <a:moveTo>
                  <a:pt x="0" y="0"/>
                </a:moveTo>
                <a:lnTo>
                  <a:pt x="1850831" y="0"/>
                </a:lnTo>
                <a:lnTo>
                  <a:pt x="1850831" y="2196832"/>
                </a:lnTo>
                <a:lnTo>
                  <a:pt x="0" y="2196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2641131" y="3032788"/>
            <a:ext cx="1284341" cy="1429934"/>
          </a:xfrm>
          <a:custGeom>
            <a:avLst/>
            <a:gdLst/>
            <a:ahLst/>
            <a:cxnLst/>
            <a:rect l="l" t="t" r="r" b="b"/>
            <a:pathLst>
              <a:path w="1284341" h="1429934">
                <a:moveTo>
                  <a:pt x="0" y="0"/>
                </a:moveTo>
                <a:lnTo>
                  <a:pt x="1284341" y="0"/>
                </a:lnTo>
                <a:lnTo>
                  <a:pt x="1284341" y="1429934"/>
                </a:lnTo>
                <a:lnTo>
                  <a:pt x="0" y="1429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6243511" y="2998640"/>
            <a:ext cx="1655097" cy="1477268"/>
          </a:xfrm>
          <a:custGeom>
            <a:avLst/>
            <a:gdLst/>
            <a:ahLst/>
            <a:cxnLst/>
            <a:rect l="l" t="t" r="r" b="b"/>
            <a:pathLst>
              <a:path w="1655097" h="1477268">
                <a:moveTo>
                  <a:pt x="0" y="0"/>
                </a:moveTo>
                <a:lnTo>
                  <a:pt x="1655096" y="0"/>
                </a:lnTo>
                <a:lnTo>
                  <a:pt x="1655096" y="1477268"/>
                </a:lnTo>
                <a:lnTo>
                  <a:pt x="0" y="14772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056" r="-190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12594419" y="2855246"/>
            <a:ext cx="1258810" cy="1562857"/>
          </a:xfrm>
          <a:custGeom>
            <a:avLst/>
            <a:gdLst/>
            <a:ahLst/>
            <a:cxnLst/>
            <a:rect l="l" t="t" r="r" b="b"/>
            <a:pathLst>
              <a:path w="1258810" h="1562857">
                <a:moveTo>
                  <a:pt x="0" y="0"/>
                </a:moveTo>
                <a:lnTo>
                  <a:pt x="1258810" y="0"/>
                </a:lnTo>
                <a:lnTo>
                  <a:pt x="1258810" y="1562857"/>
                </a:lnTo>
                <a:lnTo>
                  <a:pt x="0" y="15628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719110" y="743364"/>
            <a:ext cx="4665337" cy="87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INTRODUCTION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6492" y="3787089"/>
            <a:ext cx="703448" cy="53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971" b="1" spc="124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84763" y="3831499"/>
            <a:ext cx="703448" cy="53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971" b="1" spc="124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08446" y="3831499"/>
            <a:ext cx="703448" cy="53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971" b="1" spc="124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00396" y="3776870"/>
            <a:ext cx="703448" cy="53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971" b="1" spc="124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18505" y="3776870"/>
            <a:ext cx="703448" cy="53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971" b="1" spc="124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7018" y="5210383"/>
            <a:ext cx="2516004" cy="179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Android app to simplify movement across the University of Leicester campus.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33622" y="5124450"/>
            <a:ext cx="2501648" cy="179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Integrates real-time maps, weather, live bus tracking and class schedules into one platform.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05350" y="5034171"/>
            <a:ext cx="2332222" cy="179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Emphasizes user-friendly design, accessibility, and seamless interaction.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74591" y="5034171"/>
            <a:ext cx="2265921" cy="179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Built with Flutter (Dart) and Firebase (Auth, Firestore, backend services).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459273" y="4857958"/>
            <a:ext cx="2364056" cy="2498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Admin console to manage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student accounts, maps,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timetables, and announcements.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Blogger"/>
              <a:ea typeface="Blogger"/>
              <a:cs typeface="Blogger"/>
              <a:sym typeface="Blogg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0859" y="780509"/>
            <a:ext cx="7980519" cy="85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 AIMS AND OBJECTIVES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12453" y="2778275"/>
            <a:ext cx="2549172" cy="1763354"/>
            <a:chOff x="0" y="0"/>
            <a:chExt cx="3398896" cy="2351139"/>
          </a:xfrm>
        </p:grpSpPr>
        <p:sp>
          <p:nvSpPr>
            <p:cNvPr id="4" name="TextBox 4"/>
            <p:cNvSpPr txBox="1"/>
            <p:nvPr/>
          </p:nvSpPr>
          <p:spPr>
            <a:xfrm>
              <a:off x="0" y="1786243"/>
              <a:ext cx="2729254" cy="564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3"/>
                </a:lnSpc>
              </a:pPr>
              <a:r>
                <a:rPr lang="en-US" sz="2799" b="1">
                  <a:solidFill>
                    <a:srgbClr val="FFFFFF"/>
                  </a:solidFill>
                  <a:latin typeface="Blogger Bold"/>
                  <a:ea typeface="Blogger Bold"/>
                  <a:cs typeface="Blogger Bold"/>
                  <a:sym typeface="Blogger Bold"/>
                </a:rPr>
                <a:t>INTEGRATION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3398896" cy="1767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62"/>
                </a:lnSpc>
              </a:pPr>
              <a:r>
                <a:rPr lang="en-US" sz="8853" b="1">
                  <a:solidFill>
                    <a:srgbClr val="FFFEFE"/>
                  </a:solidFill>
                  <a:latin typeface="Blogger Bold"/>
                  <a:ea typeface="Blogger Bold"/>
                  <a:cs typeface="Blogger Bold"/>
                  <a:sym typeface="Blogger Bold"/>
                </a:rPr>
                <a:t>01.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5224" y="2778275"/>
            <a:ext cx="2372914" cy="1763354"/>
            <a:chOff x="0" y="0"/>
            <a:chExt cx="3163885" cy="2351139"/>
          </a:xfrm>
        </p:grpSpPr>
        <p:sp>
          <p:nvSpPr>
            <p:cNvPr id="7" name="TextBox 7"/>
            <p:cNvSpPr txBox="1"/>
            <p:nvPr/>
          </p:nvSpPr>
          <p:spPr>
            <a:xfrm>
              <a:off x="0" y="1786243"/>
              <a:ext cx="2922778" cy="564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3"/>
                </a:lnSpc>
              </a:pPr>
              <a:r>
                <a:rPr lang="en-US" sz="2799" b="1">
                  <a:solidFill>
                    <a:srgbClr val="FFFEFE"/>
                  </a:solidFill>
                  <a:latin typeface="Blogger Bold"/>
                  <a:ea typeface="Blogger Bold"/>
                  <a:cs typeface="Blogger Bold"/>
                  <a:sym typeface="Blogger Bold"/>
                </a:rPr>
                <a:t>ACCESSIBILITY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3163885" cy="1767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62"/>
                </a:lnSpc>
              </a:pPr>
              <a:r>
                <a:rPr lang="en-US" sz="8853" b="1">
                  <a:solidFill>
                    <a:srgbClr val="FFFEFE"/>
                  </a:solidFill>
                  <a:latin typeface="Blogger Bold"/>
                  <a:ea typeface="Blogger Bold"/>
                  <a:cs typeface="Blogger Bold"/>
                  <a:sym typeface="Blogger Bold"/>
                </a:rPr>
                <a:t>02.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01738" y="2778275"/>
            <a:ext cx="1775942" cy="1748224"/>
            <a:chOff x="0" y="0"/>
            <a:chExt cx="2367922" cy="233096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766070"/>
              <a:ext cx="2367922" cy="564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3"/>
                </a:lnSpc>
              </a:pPr>
              <a:r>
                <a:rPr lang="en-US" sz="2799" b="1">
                  <a:solidFill>
                    <a:srgbClr val="FFFEFE"/>
                  </a:solidFill>
                  <a:latin typeface="Blogger Bold"/>
                  <a:ea typeface="Blogger Bold"/>
                  <a:cs typeface="Blogger Bold"/>
                  <a:sym typeface="Blogger Bold"/>
                </a:rPr>
                <a:t>REAL TIME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190044" cy="1767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62"/>
                </a:lnSpc>
              </a:pPr>
              <a:r>
                <a:rPr lang="en-US" sz="8853" b="1">
                  <a:solidFill>
                    <a:srgbClr val="FFFEFE"/>
                  </a:solidFill>
                  <a:latin typeface="Blogger Bold"/>
                  <a:ea typeface="Blogger Bold"/>
                  <a:cs typeface="Blogger Bold"/>
                  <a:sym typeface="Blogger Bold"/>
                </a:rPr>
                <a:t>03.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07904" y="2778275"/>
            <a:ext cx="2859376" cy="1748224"/>
            <a:chOff x="0" y="0"/>
            <a:chExt cx="3812502" cy="233096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766070"/>
              <a:ext cx="3812502" cy="564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3"/>
                </a:lnSpc>
              </a:pPr>
              <a:r>
                <a:rPr lang="en-US" sz="2799" b="1">
                  <a:solidFill>
                    <a:srgbClr val="FFFEFE"/>
                  </a:solidFill>
                  <a:latin typeface="Blogger Bold"/>
                  <a:ea typeface="Blogger Bold"/>
                  <a:cs typeface="Blogger Bold"/>
                  <a:sym typeface="Blogger Bold"/>
                </a:rPr>
                <a:t>PERSONALIZATION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3444138" cy="1767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62"/>
                </a:lnSpc>
              </a:pPr>
              <a:r>
                <a:rPr lang="en-US" sz="8853" b="1">
                  <a:solidFill>
                    <a:srgbClr val="FFFEFE"/>
                  </a:solidFill>
                  <a:latin typeface="Blogger Bold"/>
                  <a:ea typeface="Blogger Bold"/>
                  <a:cs typeface="Blogger Bold"/>
                  <a:sym typeface="Blogger Bold"/>
                </a:rPr>
                <a:t>04.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0859" y="4953809"/>
            <a:ext cx="3743137" cy="3743137"/>
            <a:chOff x="0" y="0"/>
            <a:chExt cx="4990849" cy="4990849"/>
          </a:xfrm>
        </p:grpSpPr>
        <p:grpSp>
          <p:nvGrpSpPr>
            <p:cNvPr id="16" name="Group 16"/>
            <p:cNvGrpSpPr/>
            <p:nvPr/>
          </p:nvGrpSpPr>
          <p:grpSpPr>
            <a:xfrm rot="-5400000">
              <a:off x="0" y="0"/>
              <a:ext cx="4990849" cy="4990849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652780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52780"/>
                    </a:lnTo>
                    <a:lnTo>
                      <a:pt x="160020" y="812800"/>
                    </a:lnTo>
                    <a:lnTo>
                      <a:pt x="652780" y="812800"/>
                    </a:lnTo>
                    <a:lnTo>
                      <a:pt x="812800" y="652780"/>
                    </a:lnTo>
                    <a:lnTo>
                      <a:pt x="812800" y="160020"/>
                    </a:lnTo>
                    <a:lnTo>
                      <a:pt x="65278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24AA8">
                      <a:alpha val="100000"/>
                    </a:srgbClr>
                  </a:gs>
                  <a:gs pos="100000">
                    <a:srgbClr val="B56FDC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500" y="25400"/>
                <a:ext cx="685800" cy="723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80809" y="918073"/>
              <a:ext cx="4429231" cy="3906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Blogger"/>
                  <a:ea typeface="Blogger"/>
                  <a:cs typeface="Blogger"/>
                  <a:sym typeface="Blogger"/>
                </a:rPr>
                <a:t>Develop a unified campus navigation solution integrating maps, schedules, and essential campus services into one app.</a:t>
              </a:r>
            </a:p>
            <a:p>
              <a:pPr algn="ctr">
                <a:lnSpc>
                  <a:spcPts val="3359"/>
                </a:lnSpc>
              </a:pPr>
              <a:endPara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89100" y="4953809"/>
            <a:ext cx="3743137" cy="3743137"/>
            <a:chOff x="0" y="0"/>
            <a:chExt cx="4990849" cy="4990849"/>
          </a:xfrm>
        </p:grpSpPr>
        <p:grpSp>
          <p:nvGrpSpPr>
            <p:cNvPr id="21" name="Group 21"/>
            <p:cNvGrpSpPr/>
            <p:nvPr/>
          </p:nvGrpSpPr>
          <p:grpSpPr>
            <a:xfrm rot="-5400000">
              <a:off x="0" y="0"/>
              <a:ext cx="4990849" cy="4990849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652780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52780"/>
                    </a:lnTo>
                    <a:lnTo>
                      <a:pt x="160020" y="812800"/>
                    </a:lnTo>
                    <a:lnTo>
                      <a:pt x="652780" y="812800"/>
                    </a:lnTo>
                    <a:lnTo>
                      <a:pt x="812800" y="652780"/>
                    </a:lnTo>
                    <a:lnTo>
                      <a:pt x="812800" y="160020"/>
                    </a:lnTo>
                    <a:lnTo>
                      <a:pt x="65278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24AA8">
                      <a:alpha val="100000"/>
                    </a:srgbClr>
                  </a:gs>
                  <a:gs pos="100000">
                    <a:srgbClr val="B56FDC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500" y="25400"/>
                <a:ext cx="685800" cy="723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5710" y="1062865"/>
              <a:ext cx="4701458" cy="2788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Blogger"/>
                  <a:ea typeface="Blogger"/>
                  <a:cs typeface="Blogger"/>
                  <a:sym typeface="Blogger"/>
                </a:rPr>
                <a:t>Improve accessibility and usability for students through step-free routes and responsive UI.</a:t>
              </a:r>
            </a:p>
            <a:p>
              <a:pPr algn="ctr">
                <a:lnSpc>
                  <a:spcPts val="3360"/>
                </a:lnSpc>
              </a:pPr>
              <a:endPara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8141" y="4953809"/>
            <a:ext cx="3743137" cy="3743137"/>
            <a:chOff x="0" y="0"/>
            <a:chExt cx="4990849" cy="4990849"/>
          </a:xfrm>
        </p:grpSpPr>
        <p:grpSp>
          <p:nvGrpSpPr>
            <p:cNvPr id="26" name="Group 26"/>
            <p:cNvGrpSpPr/>
            <p:nvPr/>
          </p:nvGrpSpPr>
          <p:grpSpPr>
            <a:xfrm rot="-5400000">
              <a:off x="0" y="0"/>
              <a:ext cx="4990849" cy="4990849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652780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52780"/>
                    </a:lnTo>
                    <a:lnTo>
                      <a:pt x="160020" y="812800"/>
                    </a:lnTo>
                    <a:lnTo>
                      <a:pt x="652780" y="812800"/>
                    </a:lnTo>
                    <a:lnTo>
                      <a:pt x="812800" y="652780"/>
                    </a:lnTo>
                    <a:lnTo>
                      <a:pt x="812800" y="160020"/>
                    </a:lnTo>
                    <a:lnTo>
                      <a:pt x="65278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24AA8">
                      <a:alpha val="100000"/>
                    </a:srgbClr>
                  </a:gs>
                  <a:gs pos="100000">
                    <a:srgbClr val="B56FDC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500" y="25400"/>
                <a:ext cx="685800" cy="723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87791" y="1037465"/>
              <a:ext cx="4701458" cy="2788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Blogger"/>
                  <a:ea typeface="Blogger"/>
                  <a:cs typeface="Blogger"/>
                  <a:sym typeface="Blogger"/>
                </a:rPr>
                <a:t>Enable real-time updates for weather, bus schedules, and notifications to enhance on-campus decision-making.</a:t>
              </a:r>
            </a:p>
            <a:p>
              <a:pPr algn="ctr">
                <a:lnSpc>
                  <a:spcPts val="3360"/>
                </a:lnSpc>
              </a:pPr>
              <a:endPara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966023" y="5143500"/>
            <a:ext cx="3743137" cy="3743137"/>
            <a:chOff x="0" y="0"/>
            <a:chExt cx="4990849" cy="4990849"/>
          </a:xfrm>
        </p:grpSpPr>
        <p:grpSp>
          <p:nvGrpSpPr>
            <p:cNvPr id="31" name="Group 31"/>
            <p:cNvGrpSpPr/>
            <p:nvPr/>
          </p:nvGrpSpPr>
          <p:grpSpPr>
            <a:xfrm rot="-5400000">
              <a:off x="0" y="0"/>
              <a:ext cx="4990849" cy="4990849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652780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652780"/>
                    </a:lnTo>
                    <a:lnTo>
                      <a:pt x="160020" y="812800"/>
                    </a:lnTo>
                    <a:lnTo>
                      <a:pt x="652780" y="812800"/>
                    </a:lnTo>
                    <a:lnTo>
                      <a:pt x="812800" y="652780"/>
                    </a:lnTo>
                    <a:lnTo>
                      <a:pt x="812800" y="160020"/>
                    </a:lnTo>
                    <a:lnTo>
                      <a:pt x="65278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24AA8">
                      <a:alpha val="100000"/>
                    </a:srgbClr>
                  </a:gs>
                  <a:gs pos="100000">
                    <a:srgbClr val="B56FDC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500" y="25400"/>
                <a:ext cx="685800" cy="723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200491" y="783465"/>
              <a:ext cx="4701458" cy="334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Blogger"/>
                  <a:ea typeface="Blogger"/>
                  <a:cs typeface="Blogger"/>
                  <a:sym typeface="Blogger"/>
                </a:rPr>
                <a:t>Implement secure authentication and personalized content using Firebase to create a tailored user experience.</a:t>
              </a:r>
            </a:p>
            <a:p>
              <a:pPr algn="ctr">
                <a:lnSpc>
                  <a:spcPts val="3360"/>
                </a:lnSpc>
              </a:pPr>
              <a:endPara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42195" y="2180993"/>
            <a:ext cx="3706197" cy="1947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Navigating a large university campus can be confusing and time-consuming for new and international students.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48391" y="7212016"/>
            <a:ext cx="3225514" cy="2709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Existing navigation apps (e.g., Google Maps) lack campus-specific features such as step-free access, timetable integration, and Live bus tracking.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53322" y="2180993"/>
            <a:ext cx="3534013" cy="1947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Students often rely on multiple platforms for maps, schedules, and transport updates, leading to inconvenience.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4455"/>
            <a:ext cx="3848100" cy="86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MOTIVATION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27889" y="6167628"/>
            <a:ext cx="3831457" cy="3090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endParaRPr/>
          </a:p>
          <a:p>
            <a:pPr algn="l">
              <a:lnSpc>
                <a:spcPts val="3023"/>
              </a:lnSpc>
            </a:pPr>
            <a:endParaRPr/>
          </a:p>
          <a:p>
            <a:pPr algn="l">
              <a:lnSpc>
                <a:spcPts val="3023"/>
              </a:lnSpc>
            </a:pPr>
            <a:endParaRPr/>
          </a:p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One app. Real-time. Accessible. Personal.</a:t>
            </a:r>
          </a:p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Improving the University of Leicester student experience.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342195" y="4819050"/>
            <a:ext cx="14222255" cy="1664287"/>
            <a:chOff x="0" y="0"/>
            <a:chExt cx="18963006" cy="221904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981031" cy="2189258"/>
              <a:chOff x="0" y="0"/>
              <a:chExt cx="7502072" cy="32308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080" y="12700"/>
                <a:ext cx="7486833" cy="3205480"/>
              </a:xfrm>
              <a:custGeom>
                <a:avLst/>
                <a:gdLst/>
                <a:ahLst/>
                <a:cxnLst/>
                <a:rect l="l" t="t" r="r" b="b"/>
                <a:pathLst>
                  <a:path w="7486833" h="3205480">
                    <a:moveTo>
                      <a:pt x="6696892" y="3205480"/>
                    </a:moveTo>
                    <a:lnTo>
                      <a:pt x="0" y="3205480"/>
                    </a:lnTo>
                    <a:lnTo>
                      <a:pt x="791210" y="1602740"/>
                    </a:lnTo>
                    <a:lnTo>
                      <a:pt x="0" y="0"/>
                    </a:lnTo>
                    <a:lnTo>
                      <a:pt x="6696892" y="0"/>
                    </a:lnTo>
                    <a:lnTo>
                      <a:pt x="7486832" y="1602740"/>
                    </a:lnTo>
                    <a:lnTo>
                      <a:pt x="6696892" y="320548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666321" y="29791"/>
              <a:ext cx="4981031" cy="2189258"/>
              <a:chOff x="0" y="0"/>
              <a:chExt cx="7502072" cy="32308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080" y="12700"/>
                <a:ext cx="7486833" cy="3205480"/>
              </a:xfrm>
              <a:custGeom>
                <a:avLst/>
                <a:gdLst/>
                <a:ahLst/>
                <a:cxnLst/>
                <a:rect l="l" t="t" r="r" b="b"/>
                <a:pathLst>
                  <a:path w="7486833" h="3205480">
                    <a:moveTo>
                      <a:pt x="6696892" y="3205480"/>
                    </a:moveTo>
                    <a:lnTo>
                      <a:pt x="0" y="3205480"/>
                    </a:lnTo>
                    <a:lnTo>
                      <a:pt x="791210" y="1602740"/>
                    </a:lnTo>
                    <a:lnTo>
                      <a:pt x="0" y="0"/>
                    </a:lnTo>
                    <a:lnTo>
                      <a:pt x="6696892" y="0"/>
                    </a:lnTo>
                    <a:lnTo>
                      <a:pt x="7486832" y="1602740"/>
                    </a:lnTo>
                    <a:lnTo>
                      <a:pt x="6696892" y="320548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9325410" y="29791"/>
              <a:ext cx="4981031" cy="2189258"/>
              <a:chOff x="0" y="0"/>
              <a:chExt cx="7502072" cy="32308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080" y="12700"/>
                <a:ext cx="7486833" cy="3205480"/>
              </a:xfrm>
              <a:custGeom>
                <a:avLst/>
                <a:gdLst/>
                <a:ahLst/>
                <a:cxnLst/>
                <a:rect l="l" t="t" r="r" b="b"/>
                <a:pathLst>
                  <a:path w="7486833" h="3205480">
                    <a:moveTo>
                      <a:pt x="6696892" y="3205480"/>
                    </a:moveTo>
                    <a:lnTo>
                      <a:pt x="0" y="3205480"/>
                    </a:lnTo>
                    <a:lnTo>
                      <a:pt x="791210" y="1602740"/>
                    </a:lnTo>
                    <a:lnTo>
                      <a:pt x="0" y="0"/>
                    </a:lnTo>
                    <a:lnTo>
                      <a:pt x="6696892" y="0"/>
                    </a:lnTo>
                    <a:lnTo>
                      <a:pt x="7486832" y="1602740"/>
                    </a:lnTo>
                    <a:lnTo>
                      <a:pt x="6696892" y="320548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3981976" y="0"/>
              <a:ext cx="4981031" cy="2189258"/>
              <a:chOff x="0" y="0"/>
              <a:chExt cx="7502072" cy="323088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080" y="12700"/>
                <a:ext cx="7486833" cy="3205480"/>
              </a:xfrm>
              <a:custGeom>
                <a:avLst/>
                <a:gdLst/>
                <a:ahLst/>
                <a:cxnLst/>
                <a:rect l="l" t="t" r="r" b="b"/>
                <a:pathLst>
                  <a:path w="7486833" h="3205480">
                    <a:moveTo>
                      <a:pt x="6696892" y="3205480"/>
                    </a:moveTo>
                    <a:lnTo>
                      <a:pt x="0" y="3205480"/>
                    </a:lnTo>
                    <a:lnTo>
                      <a:pt x="791210" y="1602740"/>
                    </a:lnTo>
                    <a:lnTo>
                      <a:pt x="0" y="0"/>
                    </a:lnTo>
                    <a:lnTo>
                      <a:pt x="6696892" y="0"/>
                    </a:lnTo>
                    <a:lnTo>
                      <a:pt x="7486832" y="1602740"/>
                    </a:lnTo>
                    <a:lnTo>
                      <a:pt x="6696892" y="320548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3779438" y="5375603"/>
            <a:ext cx="568451" cy="66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01</a:t>
            </a:r>
          </a:p>
        </p:txBody>
      </p:sp>
      <p:sp>
        <p:nvSpPr>
          <p:cNvPr id="17" name="AutoShape 17"/>
          <p:cNvSpPr/>
          <p:nvPr/>
        </p:nvSpPr>
        <p:spPr>
          <a:xfrm flipH="1" flipV="1">
            <a:off x="4082713" y="4128665"/>
            <a:ext cx="7447" cy="72848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AutoShape 18"/>
          <p:cNvSpPr/>
          <p:nvPr/>
        </p:nvSpPr>
        <p:spPr>
          <a:xfrm flipH="1" flipV="1">
            <a:off x="14566349" y="6483337"/>
            <a:ext cx="7447" cy="72848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" name="AutoShape 19"/>
          <p:cNvSpPr/>
          <p:nvPr/>
        </p:nvSpPr>
        <p:spPr>
          <a:xfrm flipH="1" flipV="1">
            <a:off x="11216605" y="4128470"/>
            <a:ext cx="7447" cy="72848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AutoShape 20"/>
          <p:cNvSpPr/>
          <p:nvPr/>
        </p:nvSpPr>
        <p:spPr>
          <a:xfrm flipH="1" flipV="1">
            <a:off x="7522239" y="6483532"/>
            <a:ext cx="7447" cy="72848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7357465" y="5375603"/>
            <a:ext cx="825134" cy="66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32379" y="5375603"/>
            <a:ext cx="765899" cy="66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93050" y="5375603"/>
            <a:ext cx="761493" cy="66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7653" y="1478850"/>
            <a:ext cx="12445316" cy="8182795"/>
          </a:xfrm>
          <a:custGeom>
            <a:avLst/>
            <a:gdLst/>
            <a:ahLst/>
            <a:cxnLst/>
            <a:rect l="l" t="t" r="r" b="b"/>
            <a:pathLst>
              <a:path w="12445316" h="8182795">
                <a:moveTo>
                  <a:pt x="0" y="0"/>
                </a:moveTo>
                <a:lnTo>
                  <a:pt x="12445316" y="0"/>
                </a:lnTo>
                <a:lnTo>
                  <a:pt x="12445316" y="8182795"/>
                </a:lnTo>
                <a:lnTo>
                  <a:pt x="0" y="8182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41026" y="84455"/>
            <a:ext cx="5859773" cy="86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FLOW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34268" y="898460"/>
            <a:ext cx="127208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92496" y="1889484"/>
            <a:ext cx="10703009" cy="7901925"/>
          </a:xfrm>
          <a:custGeom>
            <a:avLst/>
            <a:gdLst/>
            <a:ahLst/>
            <a:cxnLst/>
            <a:rect l="l" t="t" r="r" b="b"/>
            <a:pathLst>
              <a:path w="10703009" h="7901925">
                <a:moveTo>
                  <a:pt x="0" y="0"/>
                </a:moveTo>
                <a:lnTo>
                  <a:pt x="10703008" y="0"/>
                </a:lnTo>
                <a:lnTo>
                  <a:pt x="10703008" y="7901925"/>
                </a:lnTo>
                <a:lnTo>
                  <a:pt x="0" y="7901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32" b="-14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386543" y="1309094"/>
            <a:ext cx="151491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4756" y="163167"/>
            <a:ext cx="5779160" cy="94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CONTRIBUTIONS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264002" y="4151863"/>
            <a:ext cx="2968152" cy="745024"/>
            <a:chOff x="0" y="0"/>
            <a:chExt cx="3957535" cy="993365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338755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18067"/>
              <a:ext cx="3957535" cy="375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1390" y="2853673"/>
            <a:ext cx="4452220" cy="2476500"/>
            <a:chOff x="0" y="0"/>
            <a:chExt cx="1262530" cy="7022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2530" cy="702269"/>
            </a:xfrm>
            <a:custGeom>
              <a:avLst/>
              <a:gdLst/>
              <a:ahLst/>
              <a:cxnLst/>
              <a:rect l="l" t="t" r="r" b="b"/>
              <a:pathLst>
                <a:path w="1262530" h="702269">
                  <a:moveTo>
                    <a:pt x="69556" y="0"/>
                  </a:moveTo>
                  <a:lnTo>
                    <a:pt x="1192974" y="0"/>
                  </a:lnTo>
                  <a:cubicBezTo>
                    <a:pt x="1211422" y="0"/>
                    <a:pt x="1229113" y="7328"/>
                    <a:pt x="1242158" y="20372"/>
                  </a:cubicBezTo>
                  <a:cubicBezTo>
                    <a:pt x="1255202" y="33417"/>
                    <a:pt x="1262530" y="51108"/>
                    <a:pt x="1262530" y="69556"/>
                  </a:cubicBezTo>
                  <a:lnTo>
                    <a:pt x="1262530" y="632713"/>
                  </a:lnTo>
                  <a:cubicBezTo>
                    <a:pt x="1262530" y="651161"/>
                    <a:pt x="1255202" y="668852"/>
                    <a:pt x="1242158" y="681897"/>
                  </a:cubicBezTo>
                  <a:cubicBezTo>
                    <a:pt x="1229113" y="694941"/>
                    <a:pt x="1211422" y="702269"/>
                    <a:pt x="1192974" y="702269"/>
                  </a:cubicBezTo>
                  <a:lnTo>
                    <a:pt x="69556" y="702269"/>
                  </a:lnTo>
                  <a:cubicBezTo>
                    <a:pt x="51108" y="702269"/>
                    <a:pt x="33417" y="694941"/>
                    <a:pt x="20372" y="681897"/>
                  </a:cubicBezTo>
                  <a:cubicBezTo>
                    <a:pt x="7328" y="668852"/>
                    <a:pt x="0" y="651161"/>
                    <a:pt x="0" y="632713"/>
                  </a:cubicBezTo>
                  <a:lnTo>
                    <a:pt x="0" y="69556"/>
                  </a:lnTo>
                  <a:cubicBezTo>
                    <a:pt x="0" y="51108"/>
                    <a:pt x="7328" y="33417"/>
                    <a:pt x="20372" y="20372"/>
                  </a:cubicBezTo>
                  <a:cubicBezTo>
                    <a:pt x="33417" y="7328"/>
                    <a:pt x="51108" y="0"/>
                    <a:pt x="69556" y="0"/>
                  </a:cubicBezTo>
                  <a:close/>
                </a:path>
              </a:pathLst>
            </a:custGeom>
            <a:solidFill>
              <a:srgbClr val="8F1EA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62530" cy="759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70356" y="1597256"/>
            <a:ext cx="3014288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END-TO-END DEVELOPMENT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8072" y="3312824"/>
            <a:ext cx="3938855" cy="165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Designed and implemented a fully functional mobile application using Flutter (Dart) for the frontend and Firebase for backend services.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329360" y="2853673"/>
            <a:ext cx="4452220" cy="2476500"/>
            <a:chOff x="0" y="0"/>
            <a:chExt cx="1262530" cy="7022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62530" cy="702269"/>
            </a:xfrm>
            <a:custGeom>
              <a:avLst/>
              <a:gdLst/>
              <a:ahLst/>
              <a:cxnLst/>
              <a:rect l="l" t="t" r="r" b="b"/>
              <a:pathLst>
                <a:path w="1262530" h="702269">
                  <a:moveTo>
                    <a:pt x="69556" y="0"/>
                  </a:moveTo>
                  <a:lnTo>
                    <a:pt x="1192974" y="0"/>
                  </a:lnTo>
                  <a:cubicBezTo>
                    <a:pt x="1211422" y="0"/>
                    <a:pt x="1229113" y="7328"/>
                    <a:pt x="1242158" y="20372"/>
                  </a:cubicBezTo>
                  <a:cubicBezTo>
                    <a:pt x="1255202" y="33417"/>
                    <a:pt x="1262530" y="51108"/>
                    <a:pt x="1262530" y="69556"/>
                  </a:cubicBezTo>
                  <a:lnTo>
                    <a:pt x="1262530" y="632713"/>
                  </a:lnTo>
                  <a:cubicBezTo>
                    <a:pt x="1262530" y="651161"/>
                    <a:pt x="1255202" y="668852"/>
                    <a:pt x="1242158" y="681897"/>
                  </a:cubicBezTo>
                  <a:cubicBezTo>
                    <a:pt x="1229113" y="694941"/>
                    <a:pt x="1211422" y="702269"/>
                    <a:pt x="1192974" y="702269"/>
                  </a:cubicBezTo>
                  <a:lnTo>
                    <a:pt x="69556" y="702269"/>
                  </a:lnTo>
                  <a:cubicBezTo>
                    <a:pt x="51108" y="702269"/>
                    <a:pt x="33417" y="694941"/>
                    <a:pt x="20372" y="681897"/>
                  </a:cubicBezTo>
                  <a:cubicBezTo>
                    <a:pt x="7328" y="668852"/>
                    <a:pt x="0" y="651161"/>
                    <a:pt x="0" y="632713"/>
                  </a:cubicBezTo>
                  <a:lnTo>
                    <a:pt x="0" y="69556"/>
                  </a:lnTo>
                  <a:cubicBezTo>
                    <a:pt x="0" y="51108"/>
                    <a:pt x="7328" y="33417"/>
                    <a:pt x="20372" y="20372"/>
                  </a:cubicBezTo>
                  <a:cubicBezTo>
                    <a:pt x="33417" y="7328"/>
                    <a:pt x="51108" y="0"/>
                    <a:pt x="69556" y="0"/>
                  </a:cubicBezTo>
                  <a:close/>
                </a:path>
              </a:pathLst>
            </a:custGeom>
            <a:solidFill>
              <a:srgbClr val="0081C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262530" cy="759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982651" y="1787756"/>
            <a:ext cx="2777252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ADMIN INTERFACE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29360" y="3287144"/>
            <a:ext cx="4392684" cy="165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Developed an administration module allowing account management, timetable editing, map updates, and notification posting.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617388" y="2799236"/>
            <a:ext cx="4452220" cy="2476500"/>
            <a:chOff x="0" y="0"/>
            <a:chExt cx="1262530" cy="7022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2530" cy="702269"/>
            </a:xfrm>
            <a:custGeom>
              <a:avLst/>
              <a:gdLst/>
              <a:ahLst/>
              <a:cxnLst/>
              <a:rect l="l" t="t" r="r" b="b"/>
              <a:pathLst>
                <a:path w="1262530" h="702269">
                  <a:moveTo>
                    <a:pt x="69556" y="0"/>
                  </a:moveTo>
                  <a:lnTo>
                    <a:pt x="1192974" y="0"/>
                  </a:lnTo>
                  <a:cubicBezTo>
                    <a:pt x="1211422" y="0"/>
                    <a:pt x="1229113" y="7328"/>
                    <a:pt x="1242158" y="20372"/>
                  </a:cubicBezTo>
                  <a:cubicBezTo>
                    <a:pt x="1255202" y="33417"/>
                    <a:pt x="1262530" y="51108"/>
                    <a:pt x="1262530" y="69556"/>
                  </a:cubicBezTo>
                  <a:lnTo>
                    <a:pt x="1262530" y="632713"/>
                  </a:lnTo>
                  <a:cubicBezTo>
                    <a:pt x="1262530" y="651161"/>
                    <a:pt x="1255202" y="668852"/>
                    <a:pt x="1242158" y="681897"/>
                  </a:cubicBezTo>
                  <a:cubicBezTo>
                    <a:pt x="1229113" y="694941"/>
                    <a:pt x="1211422" y="702269"/>
                    <a:pt x="1192974" y="702269"/>
                  </a:cubicBezTo>
                  <a:lnTo>
                    <a:pt x="69556" y="702269"/>
                  </a:lnTo>
                  <a:cubicBezTo>
                    <a:pt x="51108" y="702269"/>
                    <a:pt x="33417" y="694941"/>
                    <a:pt x="20372" y="681897"/>
                  </a:cubicBezTo>
                  <a:cubicBezTo>
                    <a:pt x="7328" y="668852"/>
                    <a:pt x="0" y="651161"/>
                    <a:pt x="0" y="632713"/>
                  </a:cubicBezTo>
                  <a:lnTo>
                    <a:pt x="0" y="69556"/>
                  </a:lnTo>
                  <a:cubicBezTo>
                    <a:pt x="0" y="51108"/>
                    <a:pt x="7328" y="33417"/>
                    <a:pt x="20372" y="20372"/>
                  </a:cubicBezTo>
                  <a:cubicBezTo>
                    <a:pt x="33417" y="7328"/>
                    <a:pt x="51108" y="0"/>
                    <a:pt x="69556" y="0"/>
                  </a:cubicBezTo>
                  <a:close/>
                </a:path>
              </a:pathLst>
            </a:custGeom>
            <a:solidFill>
              <a:srgbClr val="8F1EA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262530" cy="759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90839" y="1597256"/>
            <a:ext cx="3924368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FOCUS ON ACCESSIBILITY AND UX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46005" y="3192399"/>
            <a:ext cx="3969202" cy="133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Prioritized step-free routes and intuitive UI design to ensure usability for a diverse student population.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51390" y="7119175"/>
            <a:ext cx="4452220" cy="2558801"/>
            <a:chOff x="0" y="0"/>
            <a:chExt cx="1262530" cy="7256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62530" cy="725607"/>
            </a:xfrm>
            <a:custGeom>
              <a:avLst/>
              <a:gdLst/>
              <a:ahLst/>
              <a:cxnLst/>
              <a:rect l="l" t="t" r="r" b="b"/>
              <a:pathLst>
                <a:path w="1262530" h="725607">
                  <a:moveTo>
                    <a:pt x="69556" y="0"/>
                  </a:moveTo>
                  <a:lnTo>
                    <a:pt x="1192974" y="0"/>
                  </a:lnTo>
                  <a:cubicBezTo>
                    <a:pt x="1211422" y="0"/>
                    <a:pt x="1229113" y="7328"/>
                    <a:pt x="1242158" y="20372"/>
                  </a:cubicBezTo>
                  <a:cubicBezTo>
                    <a:pt x="1255202" y="33417"/>
                    <a:pt x="1262530" y="51108"/>
                    <a:pt x="1262530" y="69556"/>
                  </a:cubicBezTo>
                  <a:lnTo>
                    <a:pt x="1262530" y="656052"/>
                  </a:lnTo>
                  <a:cubicBezTo>
                    <a:pt x="1262530" y="674499"/>
                    <a:pt x="1255202" y="692191"/>
                    <a:pt x="1242158" y="705235"/>
                  </a:cubicBezTo>
                  <a:cubicBezTo>
                    <a:pt x="1229113" y="718279"/>
                    <a:pt x="1211422" y="725607"/>
                    <a:pt x="1192974" y="725607"/>
                  </a:cubicBezTo>
                  <a:lnTo>
                    <a:pt x="69556" y="725607"/>
                  </a:lnTo>
                  <a:cubicBezTo>
                    <a:pt x="51108" y="725607"/>
                    <a:pt x="33417" y="718279"/>
                    <a:pt x="20372" y="705235"/>
                  </a:cubicBezTo>
                  <a:cubicBezTo>
                    <a:pt x="7328" y="692191"/>
                    <a:pt x="0" y="674499"/>
                    <a:pt x="0" y="656052"/>
                  </a:cubicBezTo>
                  <a:lnTo>
                    <a:pt x="0" y="69556"/>
                  </a:lnTo>
                  <a:cubicBezTo>
                    <a:pt x="0" y="51108"/>
                    <a:pt x="7328" y="33417"/>
                    <a:pt x="20372" y="20372"/>
                  </a:cubicBezTo>
                  <a:cubicBezTo>
                    <a:pt x="33417" y="7328"/>
                    <a:pt x="51108" y="0"/>
                    <a:pt x="69556" y="0"/>
                  </a:cubicBezTo>
                  <a:close/>
                </a:path>
              </a:pathLst>
            </a:custGeom>
            <a:solidFill>
              <a:srgbClr val="0081C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62530" cy="782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775698" y="5952026"/>
            <a:ext cx="3203603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USER-CENTRIC FEATURES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3005" y="7497702"/>
            <a:ext cx="4288990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Integrated voice search, live bus tracking, step-free routes, personalized timetables, and notifications to improve campus navigation and accessibility.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329360" y="7119175"/>
            <a:ext cx="4452220" cy="2476500"/>
            <a:chOff x="0" y="0"/>
            <a:chExt cx="1262530" cy="70226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62530" cy="702269"/>
            </a:xfrm>
            <a:custGeom>
              <a:avLst/>
              <a:gdLst/>
              <a:ahLst/>
              <a:cxnLst/>
              <a:rect l="l" t="t" r="r" b="b"/>
              <a:pathLst>
                <a:path w="1262530" h="702269">
                  <a:moveTo>
                    <a:pt x="69556" y="0"/>
                  </a:moveTo>
                  <a:lnTo>
                    <a:pt x="1192974" y="0"/>
                  </a:lnTo>
                  <a:cubicBezTo>
                    <a:pt x="1211422" y="0"/>
                    <a:pt x="1229113" y="7328"/>
                    <a:pt x="1242158" y="20372"/>
                  </a:cubicBezTo>
                  <a:cubicBezTo>
                    <a:pt x="1255202" y="33417"/>
                    <a:pt x="1262530" y="51108"/>
                    <a:pt x="1262530" y="69556"/>
                  </a:cubicBezTo>
                  <a:lnTo>
                    <a:pt x="1262530" y="632713"/>
                  </a:lnTo>
                  <a:cubicBezTo>
                    <a:pt x="1262530" y="651161"/>
                    <a:pt x="1255202" y="668852"/>
                    <a:pt x="1242158" y="681897"/>
                  </a:cubicBezTo>
                  <a:cubicBezTo>
                    <a:pt x="1229113" y="694941"/>
                    <a:pt x="1211422" y="702269"/>
                    <a:pt x="1192974" y="702269"/>
                  </a:cubicBezTo>
                  <a:lnTo>
                    <a:pt x="69556" y="702269"/>
                  </a:lnTo>
                  <a:cubicBezTo>
                    <a:pt x="51108" y="702269"/>
                    <a:pt x="33417" y="694941"/>
                    <a:pt x="20372" y="681897"/>
                  </a:cubicBezTo>
                  <a:cubicBezTo>
                    <a:pt x="7328" y="668852"/>
                    <a:pt x="0" y="651161"/>
                    <a:pt x="0" y="632713"/>
                  </a:cubicBezTo>
                  <a:lnTo>
                    <a:pt x="0" y="69556"/>
                  </a:lnTo>
                  <a:cubicBezTo>
                    <a:pt x="0" y="51108"/>
                    <a:pt x="7328" y="33417"/>
                    <a:pt x="20372" y="20372"/>
                  </a:cubicBezTo>
                  <a:cubicBezTo>
                    <a:pt x="33417" y="7328"/>
                    <a:pt x="51108" y="0"/>
                    <a:pt x="69556" y="0"/>
                  </a:cubicBezTo>
                  <a:close/>
                </a:path>
              </a:pathLst>
            </a:custGeom>
            <a:solidFill>
              <a:srgbClr val="8F1EA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262530" cy="759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827457" y="6018686"/>
            <a:ext cx="3456027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SYSTEM INTEGRATION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72888" y="7632763"/>
            <a:ext cx="4165165" cy="100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Successfully combined real-time data (maps, weather, schedules) into a single, seamless platform.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626913" y="7201477"/>
            <a:ext cx="4452220" cy="2476500"/>
            <a:chOff x="0" y="0"/>
            <a:chExt cx="1262530" cy="70226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62530" cy="702269"/>
            </a:xfrm>
            <a:custGeom>
              <a:avLst/>
              <a:gdLst/>
              <a:ahLst/>
              <a:cxnLst/>
              <a:rect l="l" t="t" r="r" b="b"/>
              <a:pathLst>
                <a:path w="1262530" h="702269">
                  <a:moveTo>
                    <a:pt x="69556" y="0"/>
                  </a:moveTo>
                  <a:lnTo>
                    <a:pt x="1192974" y="0"/>
                  </a:lnTo>
                  <a:cubicBezTo>
                    <a:pt x="1211422" y="0"/>
                    <a:pt x="1229113" y="7328"/>
                    <a:pt x="1242158" y="20372"/>
                  </a:cubicBezTo>
                  <a:cubicBezTo>
                    <a:pt x="1255202" y="33417"/>
                    <a:pt x="1262530" y="51108"/>
                    <a:pt x="1262530" y="69556"/>
                  </a:cubicBezTo>
                  <a:lnTo>
                    <a:pt x="1262530" y="632713"/>
                  </a:lnTo>
                  <a:cubicBezTo>
                    <a:pt x="1262530" y="651161"/>
                    <a:pt x="1255202" y="668852"/>
                    <a:pt x="1242158" y="681897"/>
                  </a:cubicBezTo>
                  <a:cubicBezTo>
                    <a:pt x="1229113" y="694941"/>
                    <a:pt x="1211422" y="702269"/>
                    <a:pt x="1192974" y="702269"/>
                  </a:cubicBezTo>
                  <a:lnTo>
                    <a:pt x="69556" y="702269"/>
                  </a:lnTo>
                  <a:cubicBezTo>
                    <a:pt x="51108" y="702269"/>
                    <a:pt x="33417" y="694941"/>
                    <a:pt x="20372" y="681897"/>
                  </a:cubicBezTo>
                  <a:cubicBezTo>
                    <a:pt x="7328" y="668852"/>
                    <a:pt x="0" y="651161"/>
                    <a:pt x="0" y="632713"/>
                  </a:cubicBezTo>
                  <a:lnTo>
                    <a:pt x="0" y="69556"/>
                  </a:lnTo>
                  <a:cubicBezTo>
                    <a:pt x="0" y="51108"/>
                    <a:pt x="7328" y="33417"/>
                    <a:pt x="20372" y="20372"/>
                  </a:cubicBezTo>
                  <a:cubicBezTo>
                    <a:pt x="33417" y="7328"/>
                    <a:pt x="51108" y="0"/>
                    <a:pt x="69556" y="0"/>
                  </a:cubicBezTo>
                  <a:close/>
                </a:path>
              </a:pathLst>
            </a:custGeom>
            <a:solidFill>
              <a:srgbClr val="0081C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262530" cy="759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010482" y="6018686"/>
            <a:ext cx="4059126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RESEARCH AND DESIGN CONTRIBUTION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05827" y="7529512"/>
            <a:ext cx="3868436" cy="165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Conducted background research on Human-Computer Interaction (HCI) and mobile navigation systems to inform design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733848" y="884373"/>
            <a:ext cx="3126323" cy="6185967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58" b="-1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70383" y="5310475"/>
            <a:ext cx="4055963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Implemented live Centre Bus tracking for campus shuttles.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13831" y="8034526"/>
            <a:ext cx="3683632" cy="127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Implemented and integrated the speech-to-text feature for hands-free navigation.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4957660" y="3948256"/>
            <a:ext cx="2776188" cy="5493165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158" b="-1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0875805" y="3985324"/>
            <a:ext cx="2776188" cy="5493165"/>
            <a:chOff x="0" y="0"/>
            <a:chExt cx="2620010" cy="5184140"/>
          </a:xfrm>
        </p:grpSpPr>
        <p:sp>
          <p:nvSpPr>
            <p:cNvPr id="25" name="Freeform 2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t="-158" b="-1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Freeform 34"/>
          <p:cNvSpPr/>
          <p:nvPr/>
        </p:nvSpPr>
        <p:spPr>
          <a:xfrm>
            <a:off x="970383" y="496980"/>
            <a:ext cx="844027" cy="934794"/>
          </a:xfrm>
          <a:custGeom>
            <a:avLst/>
            <a:gdLst/>
            <a:ahLst/>
            <a:cxnLst/>
            <a:rect l="l" t="t" r="r" b="b"/>
            <a:pathLst>
              <a:path w="844027" h="934794">
                <a:moveTo>
                  <a:pt x="0" y="0"/>
                </a:moveTo>
                <a:lnTo>
                  <a:pt x="844027" y="0"/>
                </a:lnTo>
                <a:lnTo>
                  <a:pt x="844027" y="934793"/>
                </a:lnTo>
                <a:lnTo>
                  <a:pt x="0" y="934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970383" y="3722751"/>
            <a:ext cx="986902" cy="940024"/>
          </a:xfrm>
          <a:custGeom>
            <a:avLst/>
            <a:gdLst/>
            <a:ahLst/>
            <a:cxnLst/>
            <a:rect l="l" t="t" r="r" b="b"/>
            <a:pathLst>
              <a:path w="986902" h="940024">
                <a:moveTo>
                  <a:pt x="0" y="0"/>
                </a:moveTo>
                <a:lnTo>
                  <a:pt x="986902" y="0"/>
                </a:lnTo>
                <a:lnTo>
                  <a:pt x="986902" y="940024"/>
                </a:lnTo>
                <a:lnTo>
                  <a:pt x="0" y="9400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Freeform 36"/>
          <p:cNvSpPr/>
          <p:nvPr/>
        </p:nvSpPr>
        <p:spPr>
          <a:xfrm>
            <a:off x="16260686" y="608523"/>
            <a:ext cx="998614" cy="765188"/>
          </a:xfrm>
          <a:custGeom>
            <a:avLst/>
            <a:gdLst/>
            <a:ahLst/>
            <a:cxnLst/>
            <a:rect l="l" t="t" r="r" b="b"/>
            <a:pathLst>
              <a:path w="998614" h="765188">
                <a:moveTo>
                  <a:pt x="0" y="0"/>
                </a:moveTo>
                <a:lnTo>
                  <a:pt x="998614" y="0"/>
                </a:lnTo>
                <a:lnTo>
                  <a:pt x="998614" y="765188"/>
                </a:lnTo>
                <a:lnTo>
                  <a:pt x="0" y="7651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16260686" y="3574640"/>
            <a:ext cx="996927" cy="748941"/>
          </a:xfrm>
          <a:custGeom>
            <a:avLst/>
            <a:gdLst/>
            <a:ahLst/>
            <a:cxnLst/>
            <a:rect l="l" t="t" r="r" b="b"/>
            <a:pathLst>
              <a:path w="996927" h="748941">
                <a:moveTo>
                  <a:pt x="0" y="0"/>
                </a:moveTo>
                <a:lnTo>
                  <a:pt x="996926" y="0"/>
                </a:lnTo>
                <a:lnTo>
                  <a:pt x="996926" y="748941"/>
                </a:lnTo>
                <a:lnTo>
                  <a:pt x="0" y="7489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Freeform 38"/>
          <p:cNvSpPr/>
          <p:nvPr/>
        </p:nvSpPr>
        <p:spPr>
          <a:xfrm>
            <a:off x="16485489" y="6619983"/>
            <a:ext cx="584838" cy="763247"/>
          </a:xfrm>
          <a:custGeom>
            <a:avLst/>
            <a:gdLst/>
            <a:ahLst/>
            <a:cxnLst/>
            <a:rect l="l" t="t" r="r" b="b"/>
            <a:pathLst>
              <a:path w="584838" h="763247">
                <a:moveTo>
                  <a:pt x="0" y="0"/>
                </a:moveTo>
                <a:lnTo>
                  <a:pt x="584837" y="0"/>
                </a:lnTo>
                <a:lnTo>
                  <a:pt x="584837" y="763246"/>
                </a:lnTo>
                <a:lnTo>
                  <a:pt x="0" y="7632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1128421" y="6583015"/>
            <a:ext cx="670825" cy="908752"/>
          </a:xfrm>
          <a:custGeom>
            <a:avLst/>
            <a:gdLst/>
            <a:ahLst/>
            <a:cxnLst/>
            <a:rect l="l" t="t" r="r" b="b"/>
            <a:pathLst>
              <a:path w="670825" h="908752">
                <a:moveTo>
                  <a:pt x="0" y="0"/>
                </a:moveTo>
                <a:lnTo>
                  <a:pt x="670825" y="0"/>
                </a:lnTo>
                <a:lnTo>
                  <a:pt x="670825" y="908753"/>
                </a:lnTo>
                <a:lnTo>
                  <a:pt x="0" y="90875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0" name="TextBox 40"/>
          <p:cNvSpPr txBox="1"/>
          <p:nvPr/>
        </p:nvSpPr>
        <p:spPr>
          <a:xfrm>
            <a:off x="13793599" y="4891375"/>
            <a:ext cx="3607306" cy="169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Built an interface for managing maps, schedules, and user activity.</a:t>
            </a:r>
          </a:p>
          <a:p>
            <a:pPr algn="r">
              <a:lnSpc>
                <a:spcPts val="3360"/>
              </a:lnSpc>
            </a:pPr>
            <a:endParaRPr lang="en-US" sz="2400">
              <a:solidFill>
                <a:srgbClr val="FFFFFF"/>
              </a:solidFill>
              <a:latin typeface="Blogger"/>
              <a:ea typeface="Blogger"/>
              <a:cs typeface="Blogger"/>
              <a:sym typeface="Blogger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70383" y="4448653"/>
            <a:ext cx="3526563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endParaRPr/>
          </a:p>
          <a:p>
            <a:pPr algn="l">
              <a:lnSpc>
                <a:spcPts val="3023"/>
              </a:lnSpc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Bus API IntEGRATION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12649" y="4427317"/>
            <a:ext cx="3588256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23"/>
              </a:lnSpc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ADMIN DASHBOARD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0383" y="7599173"/>
            <a:ext cx="3162777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SAVED ROUTES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00125" y="8034526"/>
            <a:ext cx="2930530" cy="127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Added saved searches for quick access.</a:t>
            </a:r>
          </a:p>
          <a:p>
            <a:pPr algn="l">
              <a:lnSpc>
                <a:spcPts val="3360"/>
              </a:lnSpc>
            </a:pPr>
            <a:endParaRPr lang="en-US" sz="2400">
              <a:solidFill>
                <a:srgbClr val="FFFFFF"/>
              </a:solidFill>
              <a:latin typeface="Blogger"/>
              <a:ea typeface="Blogger"/>
              <a:cs typeface="Blogger"/>
              <a:sym typeface="Blogger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3935204" y="7218173"/>
            <a:ext cx="3324096" cy="118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23"/>
              </a:lnSpc>
            </a:pPr>
            <a:endParaRPr/>
          </a:p>
          <a:p>
            <a:pPr algn="r">
              <a:lnSpc>
                <a:spcPts val="3023"/>
              </a:lnSpc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VoicE SEARCH</a:t>
            </a:r>
          </a:p>
          <a:p>
            <a:pPr algn="r">
              <a:lnSpc>
                <a:spcPts val="3023"/>
              </a:lnSpc>
            </a:pPr>
            <a:endParaRPr lang="en-US" sz="2799" b="1">
              <a:solidFill>
                <a:srgbClr val="FFFFFF"/>
              </a:solidFill>
              <a:latin typeface="Blogger Bold"/>
              <a:ea typeface="Blogger Bold"/>
              <a:cs typeface="Blogger Bold"/>
              <a:sym typeface="Blogger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70383" y="1613329"/>
            <a:ext cx="3987277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FIRESTORE INTEGRATION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0383" y="1979851"/>
            <a:ext cx="4055963" cy="169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Connected dynamic data for saved routes, location details, and user settings.</a:t>
            </a:r>
          </a:p>
          <a:p>
            <a:pPr algn="l">
              <a:lnSpc>
                <a:spcPts val="3360"/>
              </a:lnSpc>
            </a:pPr>
            <a:endParaRPr lang="en-US" sz="2400">
              <a:solidFill>
                <a:srgbClr val="FFFFFF"/>
              </a:solidFill>
              <a:latin typeface="Blogger"/>
              <a:ea typeface="Blogger"/>
              <a:cs typeface="Blogger"/>
              <a:sym typeface="Blogger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3613831" y="1287967"/>
            <a:ext cx="3683632" cy="106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91"/>
              </a:lnSpc>
            </a:pPr>
            <a:endParaRPr/>
          </a:p>
          <a:p>
            <a:pPr algn="r">
              <a:lnSpc>
                <a:spcPts val="2691"/>
              </a:lnSpc>
            </a:pPr>
            <a:r>
              <a:rPr lang="en-US" sz="2492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PUSH NOTIFICATIONS</a:t>
            </a:r>
          </a:p>
          <a:p>
            <a:pPr algn="r">
              <a:lnSpc>
                <a:spcPts val="2691"/>
              </a:lnSpc>
            </a:pPr>
            <a:endParaRPr lang="en-US" sz="2492" b="1">
              <a:solidFill>
                <a:srgbClr val="FFFFFF"/>
              </a:solidFill>
              <a:latin typeface="Blogger Bold"/>
              <a:ea typeface="Blogger Bold"/>
              <a:cs typeface="Blogger Bold"/>
              <a:sym typeface="Blogger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4048500" y="1960801"/>
            <a:ext cx="321080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Enabled live push notifications.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64390" y="-95250"/>
            <a:ext cx="3207888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89554" y="2861186"/>
            <a:ext cx="2460140" cy="4920281"/>
          </a:xfrm>
          <a:custGeom>
            <a:avLst/>
            <a:gdLst/>
            <a:ahLst/>
            <a:cxnLst/>
            <a:rect l="l" t="t" r="r" b="b"/>
            <a:pathLst>
              <a:path w="2460140" h="4920281">
                <a:moveTo>
                  <a:pt x="0" y="0"/>
                </a:moveTo>
                <a:lnTo>
                  <a:pt x="2460141" y="0"/>
                </a:lnTo>
                <a:lnTo>
                  <a:pt x="2460141" y="4920281"/>
                </a:lnTo>
                <a:lnTo>
                  <a:pt x="0" y="4920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9138305" y="2861186"/>
            <a:ext cx="2460140" cy="4920281"/>
          </a:xfrm>
          <a:custGeom>
            <a:avLst/>
            <a:gdLst/>
            <a:ahLst/>
            <a:cxnLst/>
            <a:rect l="l" t="t" r="r" b="b"/>
            <a:pathLst>
              <a:path w="2460140" h="4920281">
                <a:moveTo>
                  <a:pt x="2460141" y="4920281"/>
                </a:moveTo>
                <a:lnTo>
                  <a:pt x="0" y="4920281"/>
                </a:lnTo>
                <a:lnTo>
                  <a:pt x="0" y="0"/>
                </a:lnTo>
                <a:lnTo>
                  <a:pt x="2460141" y="0"/>
                </a:lnTo>
                <a:lnTo>
                  <a:pt x="2460141" y="492028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9482040" y="2524731"/>
            <a:ext cx="1836875" cy="1836875"/>
          </a:xfrm>
          <a:custGeom>
            <a:avLst/>
            <a:gdLst/>
            <a:ahLst/>
            <a:cxnLst/>
            <a:rect l="l" t="t" r="r" b="b"/>
            <a:pathLst>
              <a:path w="1836875" h="1836875">
                <a:moveTo>
                  <a:pt x="0" y="0"/>
                </a:moveTo>
                <a:lnTo>
                  <a:pt x="1836875" y="0"/>
                </a:lnTo>
                <a:lnTo>
                  <a:pt x="1836875" y="1836875"/>
                </a:lnTo>
                <a:lnTo>
                  <a:pt x="0" y="1836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9707781" y="2666751"/>
            <a:ext cx="1321189" cy="13211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12045806" y="5340322"/>
            <a:ext cx="1402552" cy="0"/>
          </a:xfrm>
          <a:prstGeom prst="line">
            <a:avLst/>
          </a:prstGeom>
          <a:ln w="19050" cap="flat">
            <a:solidFill>
              <a:srgbClr val="FFFE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0668537" y="4455022"/>
            <a:ext cx="1836875" cy="1836875"/>
          </a:xfrm>
          <a:custGeom>
            <a:avLst/>
            <a:gdLst/>
            <a:ahLst/>
            <a:cxnLst/>
            <a:rect l="l" t="t" r="r" b="b"/>
            <a:pathLst>
              <a:path w="1836875" h="1836875">
                <a:moveTo>
                  <a:pt x="0" y="0"/>
                </a:moveTo>
                <a:lnTo>
                  <a:pt x="1836876" y="0"/>
                </a:lnTo>
                <a:lnTo>
                  <a:pt x="1836876" y="1836876"/>
                </a:lnTo>
                <a:lnTo>
                  <a:pt x="0" y="183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9397345" y="6411242"/>
            <a:ext cx="1836875" cy="1836875"/>
          </a:xfrm>
          <a:custGeom>
            <a:avLst/>
            <a:gdLst/>
            <a:ahLst/>
            <a:cxnLst/>
            <a:rect l="l" t="t" r="r" b="b"/>
            <a:pathLst>
              <a:path w="1836875" h="1836875">
                <a:moveTo>
                  <a:pt x="0" y="0"/>
                </a:moveTo>
                <a:lnTo>
                  <a:pt x="1836875" y="0"/>
                </a:lnTo>
                <a:lnTo>
                  <a:pt x="1836875" y="1836875"/>
                </a:lnTo>
                <a:lnTo>
                  <a:pt x="0" y="1836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7082355" y="6411242"/>
            <a:ext cx="1836875" cy="1836875"/>
          </a:xfrm>
          <a:custGeom>
            <a:avLst/>
            <a:gdLst/>
            <a:ahLst/>
            <a:cxnLst/>
            <a:rect l="l" t="t" r="r" b="b"/>
            <a:pathLst>
              <a:path w="1836875" h="1836875">
                <a:moveTo>
                  <a:pt x="0" y="0"/>
                </a:moveTo>
                <a:lnTo>
                  <a:pt x="1836875" y="0"/>
                </a:lnTo>
                <a:lnTo>
                  <a:pt x="1836875" y="1836875"/>
                </a:lnTo>
                <a:lnTo>
                  <a:pt x="0" y="1836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10937851" y="4660732"/>
            <a:ext cx="1321189" cy="13211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DE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H="1">
            <a:off x="4841544" y="5340322"/>
            <a:ext cx="1616258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5791859" y="4455022"/>
            <a:ext cx="1836875" cy="1836875"/>
          </a:xfrm>
          <a:custGeom>
            <a:avLst/>
            <a:gdLst/>
            <a:ahLst/>
            <a:cxnLst/>
            <a:rect l="l" t="t" r="r" b="b"/>
            <a:pathLst>
              <a:path w="1836875" h="1836875">
                <a:moveTo>
                  <a:pt x="0" y="0"/>
                </a:moveTo>
                <a:lnTo>
                  <a:pt x="1836875" y="0"/>
                </a:lnTo>
                <a:lnTo>
                  <a:pt x="1836875" y="1836876"/>
                </a:lnTo>
                <a:lnTo>
                  <a:pt x="0" y="1836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7" name="Group 17"/>
          <p:cNvGrpSpPr/>
          <p:nvPr/>
        </p:nvGrpSpPr>
        <p:grpSpPr>
          <a:xfrm>
            <a:off x="6028960" y="4660732"/>
            <a:ext cx="1321189" cy="132118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80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 flipH="1" flipV="1">
            <a:off x="10906693" y="7569276"/>
            <a:ext cx="915457" cy="601682"/>
          </a:xfrm>
          <a:prstGeom prst="line">
            <a:avLst/>
          </a:prstGeom>
          <a:ln w="19050" cap="flat">
            <a:solidFill>
              <a:srgbClr val="FFFE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9707781" y="6669085"/>
            <a:ext cx="1321189" cy="1321189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1EAE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012308" y="2524731"/>
            <a:ext cx="1836875" cy="1836875"/>
          </a:xfrm>
          <a:custGeom>
            <a:avLst/>
            <a:gdLst/>
            <a:ahLst/>
            <a:cxnLst/>
            <a:rect l="l" t="t" r="r" b="b"/>
            <a:pathLst>
              <a:path w="1836875" h="1836875">
                <a:moveTo>
                  <a:pt x="0" y="0"/>
                </a:moveTo>
                <a:lnTo>
                  <a:pt x="1836875" y="0"/>
                </a:lnTo>
                <a:lnTo>
                  <a:pt x="1836875" y="1836875"/>
                </a:lnTo>
                <a:lnTo>
                  <a:pt x="0" y="1836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AutoShape 25"/>
          <p:cNvSpPr/>
          <p:nvPr/>
        </p:nvSpPr>
        <p:spPr>
          <a:xfrm>
            <a:off x="6429461" y="2447992"/>
            <a:ext cx="915457" cy="601682"/>
          </a:xfrm>
          <a:prstGeom prst="line">
            <a:avLst/>
          </a:prstGeom>
          <a:ln w="19050" cap="flat">
            <a:solidFill>
              <a:srgbClr val="FFFE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7259030" y="2666751"/>
            <a:ext cx="1321189" cy="132118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 flipH="1">
            <a:off x="6457802" y="7569336"/>
            <a:ext cx="915612" cy="601445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0" name="Group 30"/>
          <p:cNvGrpSpPr/>
          <p:nvPr/>
        </p:nvGrpSpPr>
        <p:grpSpPr>
          <a:xfrm>
            <a:off x="7259030" y="6669085"/>
            <a:ext cx="1321189" cy="1321189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A3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7462662" y="3875474"/>
            <a:ext cx="3351287" cy="3351287"/>
          </a:xfrm>
          <a:custGeom>
            <a:avLst/>
            <a:gdLst/>
            <a:ahLst/>
            <a:cxnLst/>
            <a:rect l="l" t="t" r="r" b="b"/>
            <a:pathLst>
              <a:path w="3351287" h="3351287">
                <a:moveTo>
                  <a:pt x="0" y="0"/>
                </a:moveTo>
                <a:lnTo>
                  <a:pt x="3351287" y="0"/>
                </a:lnTo>
                <a:lnTo>
                  <a:pt x="3351287" y="3351287"/>
                </a:lnTo>
                <a:lnTo>
                  <a:pt x="0" y="33512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7930745" y="4113767"/>
            <a:ext cx="2415120" cy="2415120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AutoShape 37"/>
          <p:cNvSpPr/>
          <p:nvPr/>
        </p:nvSpPr>
        <p:spPr>
          <a:xfrm flipH="1">
            <a:off x="11822149" y="8170958"/>
            <a:ext cx="1597481" cy="0"/>
          </a:xfrm>
          <a:prstGeom prst="line">
            <a:avLst/>
          </a:prstGeom>
          <a:ln w="19050" cap="flat">
            <a:solidFill>
              <a:srgbClr val="FFFE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8" name="AutoShape 38"/>
          <p:cNvSpPr/>
          <p:nvPr/>
        </p:nvSpPr>
        <p:spPr>
          <a:xfrm flipH="1" flipV="1">
            <a:off x="4869885" y="8170899"/>
            <a:ext cx="158791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9" name="AutoShape 39"/>
          <p:cNvSpPr/>
          <p:nvPr/>
        </p:nvSpPr>
        <p:spPr>
          <a:xfrm flipV="1">
            <a:off x="10935265" y="2448227"/>
            <a:ext cx="915612" cy="601445"/>
          </a:xfrm>
          <a:prstGeom prst="line">
            <a:avLst/>
          </a:prstGeom>
          <a:ln w="19050" cap="flat">
            <a:solidFill>
              <a:srgbClr val="FFFE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0" name="AutoShape 40"/>
          <p:cNvSpPr/>
          <p:nvPr/>
        </p:nvSpPr>
        <p:spPr>
          <a:xfrm>
            <a:off x="4841544" y="2447992"/>
            <a:ext cx="1594169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1" name="Group 41"/>
          <p:cNvGrpSpPr/>
          <p:nvPr/>
        </p:nvGrpSpPr>
        <p:grpSpPr>
          <a:xfrm>
            <a:off x="4793146" y="2371253"/>
            <a:ext cx="153477" cy="15347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344890" y="2371253"/>
            <a:ext cx="153477" cy="15347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793146" y="5263583"/>
            <a:ext cx="153477" cy="153477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344890" y="5263583"/>
            <a:ext cx="153477" cy="153477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793146" y="8094219"/>
            <a:ext cx="153477" cy="153477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344890" y="8094219"/>
            <a:ext cx="153477" cy="153477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9" name="Freeform 59"/>
          <p:cNvSpPr/>
          <p:nvPr/>
        </p:nvSpPr>
        <p:spPr>
          <a:xfrm>
            <a:off x="8443004" y="4474072"/>
            <a:ext cx="1264777" cy="1428393"/>
          </a:xfrm>
          <a:custGeom>
            <a:avLst/>
            <a:gdLst/>
            <a:ahLst/>
            <a:cxnLst/>
            <a:rect l="l" t="t" r="r" b="b"/>
            <a:pathLst>
              <a:path w="1264777" h="1428393">
                <a:moveTo>
                  <a:pt x="0" y="0"/>
                </a:moveTo>
                <a:lnTo>
                  <a:pt x="1264777" y="0"/>
                </a:lnTo>
                <a:lnTo>
                  <a:pt x="1264777" y="1428393"/>
                </a:lnTo>
                <a:lnTo>
                  <a:pt x="0" y="14283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0" name="TextBox 60"/>
          <p:cNvSpPr txBox="1"/>
          <p:nvPr/>
        </p:nvSpPr>
        <p:spPr>
          <a:xfrm>
            <a:off x="1045607" y="331441"/>
            <a:ext cx="3379113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TARGET KPIS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28700" y="1354426"/>
            <a:ext cx="425291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 b="1">
                <a:solidFill>
                  <a:srgbClr val="FFFEFE"/>
                </a:solidFill>
                <a:latin typeface="Blogger Bold"/>
                <a:ea typeface="Blogger Bold"/>
                <a:cs typeface="Blogger Bold"/>
                <a:sym typeface="Blogger Bold"/>
              </a:rPr>
              <a:t>1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6941550" y="1383001"/>
            <a:ext cx="425291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79"/>
              </a:lnSpc>
            </a:pPr>
            <a:r>
              <a:rPr lang="en-US" sz="61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27754" y="4328567"/>
            <a:ext cx="425291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 b="1">
                <a:solidFill>
                  <a:srgbClr val="FFFEFE"/>
                </a:solidFill>
                <a:latin typeface="Blogger Bold"/>
                <a:ea typeface="Blogger Bold"/>
                <a:cs typeface="Blogger Bold"/>
                <a:sym typeface="Blogger Bold"/>
              </a:rPr>
              <a:t>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7127229" y="4293097"/>
            <a:ext cx="425291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79"/>
              </a:lnSpc>
            </a:pPr>
            <a:r>
              <a:rPr lang="en-US" sz="61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27754" y="7369165"/>
            <a:ext cx="425291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 b="1">
                <a:solidFill>
                  <a:srgbClr val="FFFEFE"/>
                </a:solidFill>
                <a:latin typeface="Blogger Bold"/>
                <a:ea typeface="Blogger Bold"/>
                <a:cs typeface="Blogger Bold"/>
                <a:sym typeface="Blogger Bold"/>
              </a:rPr>
              <a:t>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7168401" y="7401434"/>
            <a:ext cx="425291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79"/>
              </a:lnSpc>
            </a:pPr>
            <a:r>
              <a:rPr lang="en-US" sz="61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6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27754" y="2678800"/>
            <a:ext cx="3818869" cy="156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faster access to timetable info compared to searching university websites.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89327" y="3115510"/>
            <a:ext cx="660595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85%</a:t>
            </a:r>
          </a:p>
        </p:txBody>
      </p:sp>
      <p:sp>
        <p:nvSpPr>
          <p:cNvPr id="69" name="AutoShape 69"/>
          <p:cNvSpPr/>
          <p:nvPr/>
        </p:nvSpPr>
        <p:spPr>
          <a:xfrm>
            <a:off x="11827379" y="2440266"/>
            <a:ext cx="1517512" cy="7354"/>
          </a:xfrm>
          <a:prstGeom prst="line">
            <a:avLst/>
          </a:prstGeom>
          <a:ln w="19050" cap="flat">
            <a:solidFill>
              <a:srgbClr val="FFFE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Box 70"/>
          <p:cNvSpPr txBox="1"/>
          <p:nvPr/>
        </p:nvSpPr>
        <p:spPr>
          <a:xfrm>
            <a:off x="1127754" y="5478643"/>
            <a:ext cx="2696471" cy="1947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reduction in confusion for new students when finding lecture halls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332868" y="5109491"/>
            <a:ext cx="754856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80%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27754" y="8474964"/>
            <a:ext cx="2989211" cy="156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accuracy in real-time bus arrival updates through integration with live data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259030" y="7117844"/>
            <a:ext cx="1321189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90%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989707" y="2666751"/>
            <a:ext cx="3670660" cy="118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account security ensured with Firebase Authentication.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959788" y="3115510"/>
            <a:ext cx="946904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100%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987100" y="5417061"/>
            <a:ext cx="3606593" cy="156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23"/>
              </a:lnSpc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notification delivery success for campus alerts via Firebase Cloud Messaging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274358" y="5205225"/>
            <a:ext cx="648176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95%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977645" y="8503539"/>
            <a:ext cx="3616047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 voice search success rate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044287" y="7145604"/>
            <a:ext cx="648176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85%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24AA8">
                <a:alpha val="100000"/>
              </a:srgbClr>
            </a:gs>
            <a:gs pos="100000">
              <a:srgbClr val="B56FD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525885" y="1485910"/>
            <a:ext cx="4080250" cy="8073475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8" r="-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0859" y="3405811"/>
            <a:ext cx="11772217" cy="423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023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Because students obviously love guessing lecture halls and juggling five apps, we built one Android app that actually unifies maps, weather, timetables, live buses, and step-free routes.</a:t>
            </a:r>
          </a:p>
          <a:p>
            <a:pPr algn="l">
              <a:lnSpc>
                <a:spcPts val="3023"/>
              </a:lnSpc>
            </a:pPr>
            <a:endParaRPr lang="en-US" sz="2799">
              <a:solidFill>
                <a:srgbClr val="FFFFFF"/>
              </a:solidFill>
              <a:latin typeface="Blogger"/>
              <a:ea typeface="Blogger"/>
              <a:cs typeface="Blogger"/>
              <a:sym typeface="Blogger"/>
            </a:endParaRPr>
          </a:p>
          <a:p>
            <a:pPr algn="l">
              <a:lnSpc>
                <a:spcPts val="3023"/>
              </a:lnSpc>
            </a:pPr>
            <a:endParaRPr lang="en-US" sz="2799">
              <a:solidFill>
                <a:srgbClr val="FFFFFF"/>
              </a:solidFill>
              <a:latin typeface="Blogger"/>
              <a:ea typeface="Blogger"/>
              <a:cs typeface="Blogger"/>
              <a:sym typeface="Blogger"/>
            </a:endParaRPr>
          </a:p>
          <a:p>
            <a:pPr marL="604519" lvl="1" indent="-302260" algn="l">
              <a:lnSpc>
                <a:spcPts val="3023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Flutter + Firebase handle the real-time, secure, scalable bits, while the admin console keeps maps, timetables, and alerts sane.</a:t>
            </a:r>
          </a:p>
          <a:p>
            <a:pPr algn="l">
              <a:lnSpc>
                <a:spcPts val="3023"/>
              </a:lnSpc>
            </a:pPr>
            <a:endParaRPr lang="en-US" sz="2799">
              <a:solidFill>
                <a:srgbClr val="FFFFFF"/>
              </a:solidFill>
              <a:latin typeface="Blogger"/>
              <a:ea typeface="Blogger"/>
              <a:cs typeface="Blogger"/>
              <a:sym typeface="Blogger"/>
            </a:endParaRPr>
          </a:p>
          <a:p>
            <a:pPr algn="l">
              <a:lnSpc>
                <a:spcPts val="3023"/>
              </a:lnSpc>
            </a:pPr>
            <a:endParaRPr lang="en-US" sz="2799">
              <a:solidFill>
                <a:srgbClr val="FFFFFF"/>
              </a:solidFill>
              <a:latin typeface="Blogger"/>
              <a:ea typeface="Blogger"/>
              <a:cs typeface="Blogger"/>
              <a:sym typeface="Blogger"/>
            </a:endParaRPr>
          </a:p>
          <a:p>
            <a:pPr marL="604519" lvl="1" indent="-302260" algn="l">
              <a:lnSpc>
                <a:spcPts val="3023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Blogger"/>
                <a:ea typeface="Blogger"/>
                <a:cs typeface="Blogger"/>
                <a:sym typeface="Blogger"/>
              </a:rPr>
              <a:t>Result: faster access, fewer wrong turns, accurate ETAs, and voice search that works—so getting to class is the easy part for once.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3348" y="488632"/>
            <a:ext cx="332363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FFFFFF"/>
                </a:solidFill>
                <a:latin typeface="Blogger Bold"/>
                <a:ea typeface="Blogger Bold"/>
                <a:cs typeface="Blogger Bold"/>
                <a:sym typeface="Blogger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623</Words>
  <Application>Microsoft Office PowerPoint</Application>
  <PresentationFormat>Custom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Canva Sans Bold</vt:lpstr>
      <vt:lpstr>Arial</vt:lpstr>
      <vt:lpstr>Blogger Bold</vt:lpstr>
      <vt:lpstr>Canva Sans</vt:lpstr>
      <vt:lpstr>Blogger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Gradient Application Showcase Presentation</dc:title>
  <cp:lastModifiedBy>Prerith Dsouza</cp:lastModifiedBy>
  <cp:revision>3</cp:revision>
  <dcterms:created xsi:type="dcterms:W3CDTF">2006-08-16T00:00:00Z</dcterms:created>
  <dcterms:modified xsi:type="dcterms:W3CDTF">2025-09-16T01:00:54Z</dcterms:modified>
  <dc:identifier>DAGuq-lJDn8</dc:identifier>
</cp:coreProperties>
</file>